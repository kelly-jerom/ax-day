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2.xml"/>  <Relationship Id="rId70" Type="http://schemas.openxmlformats.org/officeDocument/2006/relationships/slide" Target="slides/slide63.xml"/>
  <Relationship Id="rId71" Type="http://schemas.openxmlformats.org/officeDocument/2006/relationships/slide" Target="slides/slide64.xml"/>
  <Relationship Id="rId72" Type="http://schemas.openxmlformats.org/officeDocument/2006/relationships/slide" Target="slides/slide65.xml"/>
  <Relationship Id="rId73" Type="http://schemas.openxmlformats.org/officeDocument/2006/relationships/slide" Target="slides/slide66.xml"/>
  <Relationship Id="rId74" Type="http://schemas.openxmlformats.org/officeDocument/2006/relationships/slide" Target="slides/slide67.xml"/>
  <Relationship Id="rId75" Type="http://schemas.openxmlformats.org/officeDocument/2006/relationships/slide" Target="slides/slide68.xml"/>
  <Relationship Id="rId76" Type="http://schemas.openxmlformats.org/officeDocument/2006/relationships/slide" Target="slides/slide69.xml"/>
  <Relationship Id="rId77" Type="http://schemas.openxmlformats.org/officeDocument/2006/relationships/slide" Target="slides/slide70.xml"/>
  <Relationship Id="rId78" Type="http://schemas.openxmlformats.org/officeDocument/2006/relationships/slide" Target="slides/slide71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Shape 16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0" name="Shape 16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16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[강의]</a:t>
            </a:r>
            <a:r>
              <a:rPr b="0"/>
              <a:t> 실무 안내 한 가지 드리겠습니다</a:t>
            </a:r>
            <a:r>
              <a:rPr b="0"/>
              <a:t>. </a:t>
            </a:r>
            <a:r>
              <a:rPr b="0"/>
              <a:t>오늘 사용하신 </a:t>
            </a:r>
            <a:r>
              <a:rPr b="0"/>
              <a:t>API </a:t>
            </a:r>
            <a:r>
              <a:rPr b="0"/>
              <a:t>키는 교육용으로 종료 후 폐기됩니다</a:t>
            </a:r>
            <a:r>
              <a:rPr b="0"/>
              <a:t>. </a:t>
            </a:r>
            <a:r>
              <a:rPr b="0"/>
              <a:t>다음 주에도 애플리케이션의 </a:t>
            </a:r>
            <a:r>
              <a:rPr b="0"/>
              <a:t>AI </a:t>
            </a:r>
            <a:r>
              <a:rPr b="0"/>
              <a:t>기능을 사용하시려면 개인 키 발급이 필요합니다</a:t>
            </a:r>
            <a:r>
              <a:rPr b="0"/>
              <a:t>. </a:t>
            </a:r>
            <a:r>
              <a:rPr b="0"/>
              <a:t>발급은 </a:t>
            </a:r>
            <a:r>
              <a:rPr b="0"/>
              <a:t>5</a:t>
            </a:r>
            <a:r>
              <a:rPr b="0"/>
              <a:t>분입니다</a:t>
            </a:r>
            <a:r>
              <a:rPr b="0"/>
              <a:t>. </a:t>
            </a:r>
            <a:r>
              <a:rPr b="0"/>
              <a:t>콘솔 접속</a:t>
            </a:r>
            <a:r>
              <a:rPr b="0"/>
              <a:t>, </a:t>
            </a:r>
            <a:r>
              <a:rPr b="0"/>
              <a:t>키 생성</a:t>
            </a:r>
            <a:r>
              <a:rPr b="0"/>
              <a:t>, </a:t>
            </a:r>
            <a:r>
              <a:rPr b="0"/>
              <a:t>복사 후 보관</a:t>
            </a:r>
            <a:r>
              <a:rPr b="0"/>
              <a:t>. </a:t>
            </a:r>
            <a:r>
              <a:rPr b="0"/>
              <a:t>발급 창을 닫으면 재확인이 불가하니 반드시 보관하십시오</a:t>
            </a:r>
            <a:r>
              <a:rPr b="0"/>
              <a:t>. </a:t>
            </a:r>
            <a:r>
              <a:rPr b="0"/>
              <a:t>결제와 무료 크레딧은 콘솔에서 직접 확인하시기 바랍니다</a:t>
            </a:r>
            <a:r>
              <a:rPr b="0"/>
              <a:t>. </a:t>
            </a:r>
            <a:r>
              <a:rPr b="0"/>
              <a:t>세 가지만 기억해 주십시오</a:t>
            </a:r>
            <a:r>
              <a:rPr b="0"/>
              <a:t>. </a:t>
            </a:r>
            <a:r>
              <a:rPr b="0"/>
              <a:t>사용량 기반 과금이니 콘솔에서 사용량을 확인하는 습관</a:t>
            </a:r>
            <a:r>
              <a:rPr b="0"/>
              <a:t>, </a:t>
            </a:r>
            <a:r>
              <a:rPr b="0"/>
              <a:t>키는 비밀번호와 동일하게 관리</a:t>
            </a:r>
            <a:r>
              <a:rPr b="0"/>
              <a:t>, </a:t>
            </a:r>
            <a:r>
              <a:rPr b="0"/>
              <a:t>부서 공용 키는 관리 책임자 지정</a:t>
            </a:r>
            <a:r>
              <a:rPr b="0"/>
              <a:t>. </a:t>
            </a:r>
            <a:r>
              <a:rPr b="0"/>
              <a:t>발급이 어려우시면 후속 코칭에서 함께 진행하겠습니다</a:t>
            </a:r>
            <a:r>
              <a:rPr b="0"/>
              <a:t>.</a:t>
            </a:r>
            <a:endParaRPr b="0"/>
          </a:p>
          <a:p>
            <a:pPr>
              <a:defRPr b="1" sz="1600"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[운영]</a:t>
            </a:r>
            <a:r>
              <a:rPr b="0"/>
              <a:t> 결제 질문은 개별 안내</a:t>
            </a:r>
            <a:r>
              <a:rPr b="0"/>
              <a:t>. </a:t>
            </a:r>
            <a:r>
              <a:rPr b="0"/>
              <a:t>크레딧 금액은 단정하지 말 것</a:t>
            </a:r>
            <a:r>
              <a:rPr b="0"/>
              <a:t>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CONNECT · GITHUB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연동 · 업로드 없이 대화로 올린다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준비 (1회)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Claude Code에 "GitHub에 올리게 gh 로그인 도와줘" → 안내대로 브라우저 인증. 계정 연결은 한 번이면 끝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첫 업로드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"이 폴더를 GitHub 저장소로 만들어 올려줘" → 저장소 생성 · 커밋 · 푸시까지 Code가 수행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수정 반영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"변경사항 커밋하고 푸시해줘" 한 줄 · Vercel이 연결돼 있으면 자동 재배포까지 이어진다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안전 규칙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키 · 비밀번호 파일은 올리지 않기 · "키 파일은 제외되게 .gitignore 만들어줘"라고 먼저 부탁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웹 드래그 업로드는 언제나 유효한 플랜 B입니다. 연동은 편의이지 필수가 아닙니다.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CONNECT · VERCEL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Vercel 연동 · push가 곧 배포다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연결 (1회)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vercel.com → Add New → Project → GitHub 저장소 Import. 교육 때 배포한 그 연결 그대로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자동 배포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이후 Code가 푸시할 때마다 Vercel이 감지해 재배포 · 주소(URL)는 그대로 유지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CLI 방식 (선택)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"vercel CLI로 이 폴더 배포해줘" · 설치와 로그인 1회 후엔 명령 한 줄로 배포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확인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배포 URL 새로고침 · Vercel 대시보드 Deployments 탭에서 배포 이력 확인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수정 → 푸시 → 자동 배포. 교안 마지막에 그린 그 바퀴가 이렇게 굴러갑니다.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CONNECT · SUPABASE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Supabase 연동 · MCP로 DB가 대화 상대가 된다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연결 (1회)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Code에 "Supabase MCP 연결해줘. 처음엔 읽기 전용으로" → 안내대로 로그인 · 승인 (명령 한 줄은 가이드 문서 참고)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조회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"water_quality에서 오염 의심 행 보여줘" · SQL을 몰라도 대화로 조회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관리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"테이블 스키마 확인해줘", "measure_date에 인덱스 만들어줘" · 대시보드 클릭이 대화가 된다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안전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처음엔 읽기 전용(read-only) 연결 권장 · Secret 키는 여전히 앱과 코드에 넣지 않는다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클릭으로 하던 모든 일이 대화가 됩니다. 단, 무엇을 어떤 단위로 저장할지는 여전히 사람이 정합니다.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CONNECT · WORKFLOW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셋이 붙으면 · 실무의 한 바퀴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PRD 수정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요구가 바뀌면 코드가 아니라 PRD부터 고친다 · 문제의 주소는 늘 PRD 안에 있다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구현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"PRD대로 고쳐줘" → Code가 수정 · step 파일이 곧 버전이라 언제든 되돌릴 수 있다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배포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"커밋하고 푸시해줘" → GitHub 반영 → Vercel 자동 재배포 · 같은 URL에서 새 버전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DB 점검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MCP로 "이번 주 저장된 건수 확인해줘" · 판정 기준이 바뀌면 PRD 3번과 테이블을 함께 갱신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교육에서 클릭으로 익힌 길을, 실무에서는 대화로 달립니다. 이 한 바퀴가 여러분 업무의 새 기본기입니다.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CONNECT · KEYS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키 관리의 사다리 · 매번 입력에서 무입력까지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1단계 · 입력창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교육 기본. 코드와 저장소에 비밀이 없다 · 시연과 학습에 최적, 단일 HTML의 정석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2단계 · 브라우저 기억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처음 입력 때 "기억" 체크 → localStorage 저장 · "연결 설정" 버튼(끝 4자리·수정·지우기) · 401이면 자동으로 열림 · 연동 확인 후에 얹기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3단계 · 서버 + 환경변수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"API 호출을 서버 함수로 옮기고 키는 환경변수에서 읽게 해줘" · 사용자가 키를 몰라도 되는 부서 공유용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철칙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.env를 깃에 올린 적이 있다면 지워도 히스토리에 남는다 · 키 재발급이 정답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입력창(교육) → 기억(개인) → 서버(부서). 단계마다 대화 한 줄로 올라갑니다.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FIELD TIPS · 화면과 문서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현장 팁 I · 요청 한 줄이면 됩니다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휴대폰에서도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"휴대폰 화면에서도 보기 좋게 반응형으로 만들어줘"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보고서로 뽑기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"판정 결과를 A4 인쇄에 맞는 보고서 형식으로, 인쇄 버튼 추가" · 브라우저 인쇄에서 PDF 저장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백업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"테이블 전체를 CSV로 내려받는 백업 버튼을 만들어줘"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기간별 조회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"분기 선택 드롭다운을 추가해서 선택한 기간만 조회되게 해줘" · 분기가 쌓이면 필수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전부 오늘 만든 앱에 한 줄씩 얹는 기능입니다. PRD 백로그에 적고 하나씩.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FIELD TIPS · 데이터와 안전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현장 팁 II · 커질 때와 막힐 때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느려질 때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"1,000건 넘으면 페이지를 나눠서 보여줘" + "자주 찾는 컬럼에 인덱스 만들어줘"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아무나 못 보게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"접속 코드를 입력해야 화면이 보이게 해줘" · 단, 가림막이지 보안이 아님. 민감 데이터는 공개 URL 금지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다른 파일 형식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"CSV 파일과 시트가 여러 개인 엑셀도 읽을 수 있게 해줘"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에러 만능 열쇠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F12 → Console의 빨간 메시지를 통째로 복사 → "이 에러 고쳐줘: (붙여넣기)"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기능 추가는 코드가 아니라 PRD 백로그에 먼저 적고, "백로그 1번을 구현해줘"로 시작합니다.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FIELD TIPS · 수집과 예측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특수 과제 · 수집은 백로그로, 예측은 참고로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자동 수집 과제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크롤링·알림은 서버가 필요해 하루 범위를 넘는다 · 오늘은 "모아온 것을 넣으면 분류·요약"까지, 수집은 백로그(나중에 할 일 목록·PRD 7번)에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백로그 실현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"Vercel Cron으로 매일 아침 뉴스를 수집해 요약을 이메일로 보내줘" · 백로그가 곧 다음 스프린트 지시문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예측 과제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오늘은 집계 + 추세선 + 기준 초과 규칙 판정까지 · 예측 모델은 백로그, 실현할 땐 이동평균·추세 연장부터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예측의 원칙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추정값에는 "참고용 추정치" 표시 · 판정은 언제나 사람이 정한 기준(규칙)으로, AI 숫자로 행정 판단하지 않는다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범위를 좁히는 것은 포기가 아니라 예약입니다. 백로그가 다음 버전을 기다립니다.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CONNECT · BUDGET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비용과 사용량 · 사고 없이 오래 쓰기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지출 한도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워크스페이스에 Spend limit을 걸어두면 예산 사고가 원천 차단된다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만료일 습관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키에는 만료일 설정을 기본으로 · 폐기가 자동이 된다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사용량 확인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platform.claude.com 워크스페이스 화면에서 확인 · 429(요청 과다)는 1~2분 대기, 잦으면 서버 구조로 올릴 신호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Supabase 플랜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무료 플랜은 교육·시제품에 충분 · 부서 도구로 정착하면 용량과 백업 정책 확인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교육에서 클릭으로 익힌 길을, 실무에서는 대화로 달립니다. 이 열 장이 그 지도입니다.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Text 1"/>
          <p:cNvSpPr txBox="1"/>
          <p:nvPr/>
        </p:nvSpPr>
        <p:spPr>
          <a:xfrm>
            <a:off x="548640" y="432308"/>
            <a:ext cx="1109167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0E7C8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APPENDIX · VS CODE</a:t>
            </a:r>
          </a:p>
        </p:txBody>
      </p:sp>
      <p:sp>
        <p:nvSpPr>
          <p:cNvPr id="1667" name="Text 2"/>
          <p:cNvSpPr txBox="1"/>
          <p:nvPr/>
        </p:nvSpPr>
        <p:spPr>
          <a:xfrm>
            <a:off x="548640" y="726627"/>
            <a:ext cx="11091672" cy="43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부록 · VS Code에서 쓰기 (흐름은 동일)</a:t>
            </a:r>
          </a:p>
        </p:txBody>
      </p:sp>
      <p:sp>
        <p:nvSpPr>
          <p:cNvPr id="1668" name="Shape 3"/>
          <p:cNvSpPr/>
          <p:nvPr/>
        </p:nvSpPr>
        <p:spPr>
          <a:xfrm>
            <a:off x="548640" y="1554480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9" name="Shape 4"/>
          <p:cNvSpPr/>
          <p:nvPr/>
        </p:nvSpPr>
        <p:spPr>
          <a:xfrm>
            <a:off x="841247" y="1847088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0" name="Text 5"/>
          <p:cNvSpPr txBox="1"/>
          <p:nvPr/>
        </p:nvSpPr>
        <p:spPr>
          <a:xfrm>
            <a:off x="841247" y="1932127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1" name="Text 6"/>
          <p:cNvSpPr txBox="1"/>
          <p:nvPr/>
        </p:nvSpPr>
        <p:spPr>
          <a:xfrm>
            <a:off x="1463039" y="1938653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VS Code 설치</a:t>
            </a:r>
          </a:p>
        </p:txBody>
      </p:sp>
      <p:sp>
        <p:nvSpPr>
          <p:cNvPr id="1672" name="Text 7"/>
          <p:cNvSpPr txBox="1"/>
          <p:nvPr/>
        </p:nvSpPr>
        <p:spPr>
          <a:xfrm>
            <a:off x="4480559" y="1968628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code.visualstudio.com 에서 다운로드 (1.98.0 이상)</a:t>
            </a:r>
          </a:p>
        </p:txBody>
      </p:sp>
      <p:sp>
        <p:nvSpPr>
          <p:cNvPr id="1673" name="Shape 8"/>
          <p:cNvSpPr/>
          <p:nvPr/>
        </p:nvSpPr>
        <p:spPr>
          <a:xfrm>
            <a:off x="548640" y="2688335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4" name="Shape 9"/>
          <p:cNvSpPr/>
          <p:nvPr/>
        </p:nvSpPr>
        <p:spPr>
          <a:xfrm>
            <a:off x="841247" y="2980944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5" name="Text 10"/>
          <p:cNvSpPr txBox="1"/>
          <p:nvPr/>
        </p:nvSpPr>
        <p:spPr>
          <a:xfrm>
            <a:off x="841247" y="3065983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76" name="Text 11"/>
          <p:cNvSpPr txBox="1"/>
          <p:nvPr/>
        </p:nvSpPr>
        <p:spPr>
          <a:xfrm>
            <a:off x="1463039" y="3072509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확장 설치</a:t>
            </a:r>
          </a:p>
        </p:txBody>
      </p:sp>
      <p:sp>
        <p:nvSpPr>
          <p:cNvPr id="1677" name="Text 12"/>
          <p:cNvSpPr txBox="1"/>
          <p:nvPr/>
        </p:nvSpPr>
        <p:spPr>
          <a:xfrm>
            <a:off x="4480559" y="3102484"/>
            <a:ext cx="6885432" cy="177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Ctrl+Shift+X → "Claude Code" 검색 → Install → Trust Publisher &amp; Install</a:t>
            </a:r>
          </a:p>
        </p:txBody>
      </p:sp>
      <p:sp>
        <p:nvSpPr>
          <p:cNvPr id="1678" name="Shape 13"/>
          <p:cNvSpPr/>
          <p:nvPr/>
        </p:nvSpPr>
        <p:spPr>
          <a:xfrm>
            <a:off x="548640" y="3822191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E0F2F4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9" name="Shape 14"/>
          <p:cNvSpPr/>
          <p:nvPr/>
        </p:nvSpPr>
        <p:spPr>
          <a:xfrm>
            <a:off x="841247" y="4114800"/>
            <a:ext cx="420625" cy="420624"/>
          </a:xfrm>
          <a:prstGeom prst="ellipse">
            <a:avLst/>
          </a:prstGeom>
          <a:solidFill>
            <a:srgbClr val="0E7C8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0" name="Text 15"/>
          <p:cNvSpPr txBox="1"/>
          <p:nvPr/>
        </p:nvSpPr>
        <p:spPr>
          <a:xfrm>
            <a:off x="841247" y="4199839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81" name="Text 16"/>
          <p:cNvSpPr txBox="1"/>
          <p:nvPr/>
        </p:nvSpPr>
        <p:spPr>
          <a:xfrm>
            <a:off x="1463039" y="4206365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로그인</a:t>
            </a:r>
          </a:p>
        </p:txBody>
      </p:sp>
      <p:sp>
        <p:nvSpPr>
          <p:cNvPr id="1682" name="Text 17"/>
          <p:cNvSpPr txBox="1"/>
          <p:nvPr/>
        </p:nvSpPr>
        <p:spPr>
          <a:xfrm>
            <a:off x="4480559" y="4131145"/>
            <a:ext cx="6885432" cy="387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첫 실행 때 Anthropic 계정으로 · 유료 Claude 구독이면 API 키 불필요</a:t>
            </a:r>
          </a:p>
        </p:txBody>
      </p:sp>
      <p:sp>
        <p:nvSpPr>
          <p:cNvPr id="1683" name="Shape 18"/>
          <p:cNvSpPr/>
          <p:nvPr/>
        </p:nvSpPr>
        <p:spPr>
          <a:xfrm>
            <a:off x="548640" y="4956047"/>
            <a:ext cx="11091672" cy="987553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>
            <a:solidFill>
              <a:srgbClr val="D7DFE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4" name="Shape 19"/>
          <p:cNvSpPr/>
          <p:nvPr/>
        </p:nvSpPr>
        <p:spPr>
          <a:xfrm>
            <a:off x="841247" y="5248655"/>
            <a:ext cx="420625" cy="420625"/>
          </a:xfrm>
          <a:prstGeom prst="ellipse">
            <a:avLst/>
          </a:prstGeom>
          <a:solidFill>
            <a:srgbClr val="1A3A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5" name="Text 20"/>
          <p:cNvSpPr txBox="1"/>
          <p:nvPr/>
        </p:nvSpPr>
        <p:spPr>
          <a:xfrm>
            <a:off x="841247" y="5333694"/>
            <a:ext cx="42062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86" name="Text 21"/>
          <p:cNvSpPr txBox="1"/>
          <p:nvPr/>
        </p:nvSpPr>
        <p:spPr>
          <a:xfrm>
            <a:off x="1463039" y="5340221"/>
            <a:ext cx="292608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F293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폴더 열기</a:t>
            </a:r>
          </a:p>
        </p:txBody>
      </p:sp>
      <p:sp>
        <p:nvSpPr>
          <p:cNvPr id="1687" name="Text 22"/>
          <p:cNvSpPr txBox="1"/>
          <p:nvPr/>
        </p:nvSpPr>
        <p:spPr>
          <a:xfrm>
            <a:off x="4480559" y="5371527"/>
            <a:ext cx="6885432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5B6B7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"폴더 열기"로 실습 폴더 선택 → 우상단 Claude 버튼으로 패널 열기 · 이후는 교안 프롬프트 그대로</a:t>
            </a:r>
          </a:p>
        </p:txBody>
      </p:sp>
      <p:sp>
        <p:nvSpPr>
          <p:cNvPr id="1688" name="Text 23"/>
          <p:cNvSpPr txBox="1"/>
          <p:nvPr/>
        </p:nvSpPr>
        <p:spPr>
          <a:xfrm>
            <a:off x="548640" y="6259829"/>
            <a:ext cx="1109167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3A6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파일 목록은 왼쪽 탐색기에 · html은 우클릭 → 파일 위치 열기 → 더블클릭 실행 · 자세히: code.claude.com/docs/en/vs-code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1521440" y="6377940"/>
            <a:ext cx="48768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8C4"/>
                </a:solidFill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